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The AI Hype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00CC96"/>
                </a:solidFill>
                <a:latin typeface="Calibri"/>
              </a:defRPr>
            </a:pPr>
            <a:r>
              <a:t>Are We in a Bubble?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D1D5DB"/>
                </a:solidFill>
                <a:latin typeface="Calibri"/>
              </a:defRPr>
            </a:pPr>
            <a:r>
              <a:t>Comparing NVIDIA 2023-2026 to Cisco 1998-2001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297680"/>
            <a:ext cx="10698480" cy="127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1D5DB"/>
                </a:solidFill>
                <a:latin typeface="Calibri"/>
              </a:defRPr>
            </a:pPr>
            <a:r>
              <a:t>Team 2Kim: Jimmy Kim &amp; Alice 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SBU AI Community Datathon 2026  —  Finance &amp; Economics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"Does This Look Familiar?"</a:t>
            </a:r>
          </a:p>
        </p:txBody>
      </p:sp>
      <p:pic>
        <p:nvPicPr>
          <p:cNvPr id="3" name="Picture 2" descr="chart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CC96"/>
                </a:solidFill>
                <a:latin typeface="Calibri"/>
              </a:defRPr>
            </a:pPr>
            <a:r>
              <a:t>■ NVIDIA 2023-2026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6035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F553B"/>
                </a:solidFill>
                <a:latin typeface="Calibri"/>
              </a:defRPr>
            </a:pPr>
            <a:r>
              <a:t>■ Cisco 1998-2001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035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- - Nortel Networks (bankrupt 2009)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Five-Layer Analytical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4114800" cy="640080"/>
          </a:xfrm>
          <a:prstGeom prst="roundRect">
            <a:avLst/>
          </a:prstGeom>
          <a:solidFill>
            <a:srgbClr val="161B22"/>
          </a:solidFill>
          <a:ln w="25400">
            <a:solidFill>
              <a:srgbClr val="00C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4813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C96"/>
                </a:solidFill>
                <a:latin typeface="Calibri"/>
              </a:defRPr>
            </a:pPr>
            <a:r>
              <a:t>1 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48132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1D5DB"/>
                </a:solidFill>
                <a:latin typeface="Calibri"/>
              </a:defRPr>
            </a:pPr>
            <a:r>
              <a:t>Same trajectory?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286000"/>
            <a:ext cx="4114800" cy="640080"/>
          </a:xfrm>
          <a:prstGeom prst="roundRect">
            <a:avLst/>
          </a:prstGeom>
          <a:solidFill>
            <a:srgbClr val="161B22"/>
          </a:solidFill>
          <a:ln w="25400">
            <a:solidFill>
              <a:srgbClr val="19D3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957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9D3F3"/>
                </a:solidFill>
                <a:latin typeface="Calibri"/>
              </a:defRPr>
            </a:pPr>
            <a:r>
              <a:t>2  FUNDAMENTALS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39572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1D5DB"/>
                </a:solidFill>
                <a:latin typeface="Calibri"/>
              </a:defRPr>
            </a:pPr>
            <a:r>
              <a:t>Same detachment?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00400"/>
            <a:ext cx="4114800" cy="640080"/>
          </a:xfrm>
          <a:prstGeom prst="roundRect">
            <a:avLst/>
          </a:prstGeom>
          <a:solidFill>
            <a:srgbClr val="161B22"/>
          </a:solidFill>
          <a:ln w="25400">
            <a:solidFill>
              <a:srgbClr val="636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36EFA"/>
                </a:solidFill>
                <a:latin typeface="Calibri"/>
              </a:defRPr>
            </a:pPr>
            <a:r>
              <a:t>3  CONCENTRATION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31012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1D5DB"/>
                </a:solidFill>
                <a:latin typeface="Calibri"/>
              </a:defRPr>
            </a:pPr>
            <a:r>
              <a:t>Same fragility?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114800"/>
            <a:ext cx="4114800" cy="640080"/>
          </a:xfrm>
          <a:prstGeom prst="roundRect">
            <a:avLst/>
          </a:prstGeom>
          <a:solidFill>
            <a:srgbClr val="161B22"/>
          </a:solidFill>
          <a:ln w="25400">
            <a:solidFill>
              <a:srgbClr val="FEC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2245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ECA57"/>
                </a:solidFill>
                <a:latin typeface="Calibri"/>
              </a:defRPr>
            </a:pPr>
            <a:r>
              <a:t>4  MACRO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22452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1D5DB"/>
                </a:solidFill>
                <a:latin typeface="Calibri"/>
              </a:defRPr>
            </a:pPr>
            <a:r>
              <a:t>Same environment?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029200"/>
            <a:ext cx="4114800" cy="640080"/>
          </a:xfrm>
          <a:prstGeom prst="roundRect">
            <a:avLst/>
          </a:prstGeom>
          <a:solidFill>
            <a:srgbClr val="161B22"/>
          </a:solidFill>
          <a:ln w="25400">
            <a:solidFill>
              <a:srgbClr val="EF55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1389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553B"/>
                </a:solidFill>
                <a:latin typeface="Calibri"/>
              </a:defRPr>
            </a:pPr>
            <a:r>
              <a:t>5  SENTIMENT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513892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1D5DB"/>
                </a:solidFill>
                <a:latin typeface="Calibri"/>
              </a:defRPr>
            </a:pPr>
            <a:r>
              <a:t>Same euphoria?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A price pattern alone means nothing — but if all five dimensions align, that's different.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Data Sources &amp;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D1D5DB"/>
                </a:solidFill>
                <a:latin typeface="Calibri"/>
              </a:defRPr>
            </a:pPr>
            <a:r>
              <a:t>Yahoo Finance — Daily prices, volumes, financials (1996-2026)</a:t>
            </a:r>
          </a:p>
          <a:p>
            <a:pPr>
              <a:spcAft>
                <a:spcPts val="600"/>
              </a:spcAft>
              <a:defRPr sz="1500">
                <a:solidFill>
                  <a:srgbClr val="D1D5DB"/>
                </a:solidFill>
                <a:latin typeface="Calibri"/>
              </a:defRPr>
            </a:pPr>
            <a:r>
              <a:t>FRED API — 10 macro series: Fed Funds, M2, yields, CPI, GDP</a:t>
            </a:r>
          </a:p>
          <a:p>
            <a:pPr>
              <a:spcAft>
                <a:spcPts val="600"/>
              </a:spcAft>
              <a:defRPr sz="1500">
                <a:solidFill>
                  <a:srgbClr val="D1D5DB"/>
                </a:solidFill>
                <a:latin typeface="Calibri"/>
              </a:defRPr>
            </a:pPr>
            <a:r>
              <a:t>SEC EDGAR — 10-Q/10-K filings for earnings call NLP</a:t>
            </a:r>
          </a:p>
          <a:p>
            <a:pPr>
              <a:spcAft>
                <a:spcPts val="600"/>
              </a:spcAft>
              <a:defRPr sz="1500">
                <a:solidFill>
                  <a:srgbClr val="D1D5DB"/>
                </a:solidFill>
                <a:latin typeface="Calibri"/>
              </a:defRPr>
            </a:pPr>
            <a:r>
              <a:t>Alpha Vantage — Quarterly fundamentals (P/E, revenue, FCF)</a:t>
            </a:r>
          </a:p>
          <a:p>
            <a:pPr>
              <a:spcAft>
                <a:spcPts val="600"/>
              </a:spcAft>
              <a:defRPr sz="1500">
                <a:solidFill>
                  <a:srgbClr val="D1D5DB"/>
                </a:solidFill>
                <a:latin typeface="Calibri"/>
              </a:defRPr>
            </a:pPr>
            <a:r>
              <a:t>Google Trends — Search interest for AI/dot-com terms</a:t>
            </a:r>
          </a:p>
          <a:p>
            <a:pPr>
              <a:spcAft>
                <a:spcPts val="600"/>
              </a:spcAft>
              <a:defRPr sz="1500">
                <a:solidFill>
                  <a:srgbClr val="D1D5DB"/>
                </a:solidFill>
                <a:latin typeface="Calibri"/>
              </a:defRPr>
            </a:pPr>
            <a:r>
              <a:t>OpenAI API — Sentiment scoring of earnings call sentences</a:t>
            </a:r>
          </a:p>
          <a:p>
            <a:pPr>
              <a:spcAft>
                <a:spcPts val="600"/>
              </a:spcAft>
              <a:defRPr sz="1500">
                <a:solidFill>
                  <a:srgbClr val="D1D5DB"/>
                </a:solidFill>
                <a:latin typeface="Calibri"/>
              </a:defRPr>
            </a:pPr>
            <a:r>
              <a:t>Reddit API — r/wallstreetbets NVDA mention frequency</a:t>
            </a:r>
          </a:p>
          <a:p>
            <a:pPr>
              <a:spcAft>
                <a:spcPts val="600"/>
              </a:spcAft>
              <a:defRPr sz="1500">
                <a:solidFill>
                  <a:srgbClr val="D1D5DB"/>
                </a:solidFill>
                <a:latin typeface="Calibri"/>
              </a:defRPr>
            </a:pPr>
            <a:r>
              <a:t>S&amp;P 500 Constituent Data — Market cap weights, concentration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188720"/>
            <a:ext cx="4572000" cy="32004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371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0CC96"/>
                </a:solidFill>
                <a:latin typeface="Calibri"/>
              </a:defRPr>
            </a:pPr>
            <a: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4447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features engineered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9659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0CC96"/>
                </a:solidFill>
                <a:latin typeface="Calibri"/>
              </a:defRPr>
            </a:pPr>
            <a:r>
              <a:t>384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03911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months of training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0CC96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6334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data sources merged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154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0CC9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22783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analytical layers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749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0CC9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8221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ML models (ensemble)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754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Time-series CV  •  No lookahead bias  •  All trailing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Valuations: Night and Day</a:t>
            </a:r>
          </a:p>
        </p:txBody>
      </p:sp>
      <p:pic>
        <p:nvPicPr>
          <p:cNvPr id="3" name="Picture 2" descr="chart_2_1_pe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31520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046720" y="1188720"/>
            <a:ext cx="3657600" cy="47548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553B"/>
                </a:solidFill>
                <a:latin typeface="Calibri"/>
              </a:defRPr>
            </a:pPr>
            <a:r>
              <a:t>CISCO AT PEAK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8288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F553B"/>
                </a:solidFill>
                <a:latin typeface="Calibri"/>
              </a:defRPr>
            </a:pPr>
            <a:r>
              <a:t>~200x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Price-to-Earnings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200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C96"/>
                </a:solidFill>
                <a:latin typeface="Calibri"/>
              </a:defRPr>
            </a:pPr>
            <a:r>
              <a:t>NVIDIA 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5661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CC96"/>
                </a:solidFill>
                <a:latin typeface="Calibri"/>
              </a:defRPr>
            </a:pPr>
            <a:r>
              <a:t>~50x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206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Price-to-Earnings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463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1D5DB"/>
                </a:solidFill>
                <a:latin typeface="Calibri"/>
              </a:defRPr>
            </a:pPr>
            <a:r>
              <a:t>Cisco's P/E was 4x NVIDIA's at equivalent cycle 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Revenue Growth: 4x Faster Than Cisco</a:t>
            </a:r>
          </a:p>
        </p:txBody>
      </p:sp>
      <p:pic>
        <p:nvPicPr>
          <p:cNvPr id="3" name="Picture 2" descr="chart_2_2_revenue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0292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00CC96"/>
                </a:solidFill>
                <a:latin typeface="Calibri"/>
              </a:defRPr>
            </a:pPr>
            <a:r>
              <a:t>265%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669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NVDA peak YoY revenue growth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50292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EF553B"/>
                </a:solidFill>
                <a:latin typeface="Calibri"/>
              </a:defRPr>
            </a:pPr>
            <a:r>
              <a:t>66%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5669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CSCO peak YoY revenue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Market Concentration Is at Dot-Com Levels</a:t>
            </a:r>
          </a:p>
        </p:txBody>
      </p:sp>
      <p:pic>
        <p:nvPicPr>
          <p:cNvPr id="3" name="Picture 2" descr="chart_3_1_concentration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4754880"/>
          </a:xfrm>
          <a:prstGeom prst="rect">
            <a:avLst/>
          </a:prstGeom>
        </p:spPr>
      </p:pic>
      <p:pic>
        <p:nvPicPr>
          <p:cNvPr id="4" name="Picture 3" descr="chart_3_2_spy_vs_rs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188720"/>
            <a:ext cx="4114800" cy="2194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3657600"/>
            <a:ext cx="4114800" cy="2286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B7280"/>
                </a:solidFill>
                <a:latin typeface="Calibri"/>
              </a:defRPr>
            </a:pPr>
            <a:r>
              <a:t>TOP 5 STOCKS % OF S&amp;P 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2062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F553B"/>
                </a:solidFill>
                <a:latin typeface="Calibri"/>
              </a:defRPr>
            </a:pPr>
            <a:r>
              <a:t>28%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4297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4754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B7280"/>
                </a:solidFill>
                <a:latin typeface="Calibri"/>
              </a:defRPr>
            </a:pPr>
            <a:r>
              <a:t>18%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2000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5303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1D5DB"/>
                </a:solidFill>
                <a:latin typeface="Calibri"/>
              </a:defRPr>
            </a:pPr>
            <a:r>
              <a:t>More concentrated than at the dot-com peak.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Hype Is Real — But So Is Substance</a:t>
            </a:r>
          </a:p>
        </p:txBody>
      </p:sp>
      <p:pic>
        <p:nvPicPr>
          <p:cNvPr id="3" name="Picture 2" descr="chart_5_1_ai_men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4754880"/>
          </a:xfrm>
          <a:prstGeom prst="rect">
            <a:avLst/>
          </a:prstGeom>
        </p:spPr>
      </p:pic>
      <p:pic>
        <p:nvPicPr>
          <p:cNvPr id="4" name="Picture 3" descr="chart_5_2_hype_vs_specifi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Macro Wild Card</a:t>
            </a:r>
          </a:p>
        </p:txBody>
      </p:sp>
      <p:pic>
        <p:nvPicPr>
          <p:cNvPr id="3" name="Picture 2" descr="chart_4_5_macro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035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The macro environment is fundamentally different from 1999-2000 — but the yield curve inverted for the longest period in history.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Do the Models Say?</a:t>
            </a:r>
          </a:p>
        </p:txBody>
      </p:sp>
      <p:pic>
        <p:nvPicPr>
          <p:cNvPr id="3" name="Picture 2" descr="chart_ml_1_regime_probabi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77240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03920" y="1188720"/>
            <a:ext cx="3383280" cy="47548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0" y="14630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MARCH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920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Ensemble Regime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Bubble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EF553B"/>
                </a:solidFill>
                <a:latin typeface="Calibri"/>
              </a:defRPr>
            </a:pPr>
            <a:r>
              <a:t>XX%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3337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Normal Growth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3337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00CC96"/>
                </a:solidFill>
                <a:latin typeface="Calibri"/>
              </a:defRPr>
            </a:pPr>
            <a:r>
              <a:t>XX%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Recovery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41148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636EFA"/>
                </a:solidFill>
                <a:latin typeface="Calibri"/>
              </a:defRPr>
            </a:pPr>
            <a:r>
              <a:t>XX%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892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Correction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4892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ECA57"/>
                </a:solidFill>
                <a:latin typeface="Calibri"/>
              </a:defRPr>
            </a:pPr>
            <a:r>
              <a:t>XX%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512064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3-model ensemble: RF + XGBoost + Logistic Regression. 38 features, 28 years.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Tug-of-War: Bubble Signals vs Counter-Signals</a:t>
            </a:r>
          </a:p>
        </p:txBody>
      </p:sp>
      <p:pic>
        <p:nvPicPr>
          <p:cNvPr id="3" name="Picture 2" descr="chart_ml_2_dtw_simil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2286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3657600"/>
            <a:ext cx="11247120" cy="256032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700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[Chart ML.4 — SHAP Waterfall: What's pushing toward/away from 'Bubble' for March 2026]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Concentration + sentiment push toward bubble  |  Revenue + FCF push away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Synthesis: A Bubble? Not Quite. But Not Safe Either.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B7280"/>
                </a:solidFill>
                <a:latin typeface="Calibri"/>
              </a:defRPr>
            </a:pPr>
            <a:r>
              <a:t>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B7280"/>
                </a:solidFill>
                <a:latin typeface="Calibri"/>
              </a:defRPr>
            </a:pPr>
            <a:r>
              <a:t>DOT-COM SIGNAL?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280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B7280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515600" cy="5943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470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Price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8470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1D5DB"/>
                </a:solidFill>
                <a:latin typeface="Calibri"/>
              </a:defRPr>
            </a:pPr>
            <a:r>
              <a:t>YES (similar)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8470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553B"/>
                </a:solidFill>
                <a:latin typeface="Calibri"/>
              </a:defRPr>
            </a:pPr>
            <a:r>
              <a:t>CAUTION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23160"/>
            <a:ext cx="10515600" cy="594360"/>
          </a:xfrm>
          <a:prstGeom prst="roundRect">
            <a:avLst/>
          </a:prstGeom>
          <a:solidFill>
            <a:srgbClr val="0F1419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Fundamentals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5328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1D5DB"/>
                </a:solidFill>
                <a:latin typeface="Calibri"/>
              </a:defRPr>
            </a:pPr>
            <a:r>
              <a:t>NO (much stronger)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32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C9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108960"/>
            <a:ext cx="10515600" cy="5943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186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Market Concentration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2186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1D5DB"/>
                </a:solidFill>
                <a:latin typeface="Calibri"/>
              </a:defRPr>
            </a:pPr>
            <a:r>
              <a:t>YES (worse)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186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553B"/>
                </a:solidFill>
                <a:latin typeface="Calibri"/>
              </a:defRPr>
            </a:pPr>
            <a:r>
              <a:t>DANGER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94760"/>
            <a:ext cx="10515600" cy="594360"/>
          </a:xfrm>
          <a:prstGeom prst="roundRect">
            <a:avLst/>
          </a:prstGeom>
          <a:solidFill>
            <a:srgbClr val="0F1419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044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Macro Environment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9044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1D5DB"/>
                </a:solidFill>
                <a:latin typeface="Calibri"/>
              </a:defRPr>
            </a:pPr>
            <a:r>
              <a:t>MIXED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9044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ECA57"/>
                </a:solidFill>
                <a:latin typeface="Calibri"/>
              </a:defRPr>
            </a:pPr>
            <a:r>
              <a:t>NEUTRAL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480560"/>
            <a:ext cx="10515600" cy="5943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590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Sentiment / Hype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590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1D5DB"/>
                </a:solidFill>
                <a:latin typeface="Calibri"/>
              </a:defRPr>
            </a:pPr>
            <a:r>
              <a:t>YES (elevated)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5902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553B"/>
                </a:solidFill>
                <a:latin typeface="Calibri"/>
              </a:defRPr>
            </a:pPr>
            <a:r>
              <a:t>CAUTION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3949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1D5DB"/>
                </a:solidFill>
                <a:latin typeface="Calibri"/>
              </a:defRPr>
            </a:pPr>
            <a:r>
              <a:t>3 of 5 layers flash bubble signals.  Strong fundamentals are the only thing preventing a bubble classification.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553B"/>
                </a:solidFill>
                <a:latin typeface="Calibri"/>
              </a:defRPr>
            </a:pPr>
            <a:r>
              <a:t>If fundamentals disappoint even slightly, the downside could be severe.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C96"/>
                </a:solidFill>
                <a:latin typeface="Calibri"/>
              </a:defRPr>
            </a:pPr>
            <a:r>
              <a:t>THE KEY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FFFFF"/>
                </a:solidFill>
                <a:latin typeface="Calibri"/>
              </a:defRPr>
            </a:pPr>
            <a:r>
              <a:t>"The AI rally is fundamentally justified but structurally fragile.</a:t>
            </a:r>
            <a:br/>
            <a:r>
              <a:t>The gap between a justified rally and a bubble is measured</a:t>
            </a:r>
            <a:br/>
            <a:r>
              <a:t>in quarters — not years — of continued earnings delivery."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389120"/>
            <a:ext cx="10698480" cy="127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6634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1D5DB"/>
                </a:solidFill>
                <a:latin typeface="Calibri"/>
              </a:defRPr>
            </a:pPr>
            <a:r>
              <a:t>NVIDIA must keep executing. Any deceleration in revenue growth would remove</a:t>
            </a:r>
            <a:br/>
            <a:r>
              <a:t>the one factor separating this from a classic bubble.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Limitations &amp; Ethical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D1D5DB"/>
                </a:solidFill>
                <a:latin typeface="Calibri"/>
              </a:defRPr>
            </a:pPr>
            <a:r>
              <a:t>1.  Small sample of historical bubbles — only 2-3 comparable events in training data.</a:t>
            </a:r>
          </a:p>
          <a:p>
            <a:pPr>
              <a:spcAft>
                <a:spcPts val="600"/>
              </a:spcAft>
              <a:defRPr sz="1600">
                <a:solidFill>
                  <a:srgbClr val="D1D5DB"/>
                </a:solidFill>
                <a:latin typeface="Calibri"/>
              </a:defRPr>
            </a:pPr>
            <a:r>
              <a:t>2.  Labels are subjective — sensitivity analysis shows ±15% variance in results.</a:t>
            </a:r>
          </a:p>
          <a:p>
            <a:pPr>
              <a:spcAft>
                <a:spcPts val="600"/>
              </a:spcAft>
              <a:defRPr sz="1600">
                <a:solidFill>
                  <a:srgbClr val="D1D5DB"/>
                </a:solidFill>
                <a:latin typeface="Calibri"/>
              </a:defRPr>
            </a:pPr>
            <a:r>
              <a:t>3.  Structural market changes — passive investing (55% today vs 10% in 2000),</a:t>
            </a:r>
            <a:br/>
            <a:r>
              <a:t>     algorithmic trading, different Fed tools mean history may not repeat.</a:t>
            </a:r>
          </a:p>
          <a:p>
            <a:pPr>
              <a:spcAft>
                <a:spcPts val="600"/>
              </a:spcAft>
              <a:defRPr sz="1600">
                <a:solidFill>
                  <a:srgbClr val="D1D5DB"/>
                </a:solidFill>
                <a:latin typeface="Calibri"/>
              </a:defRPr>
            </a:pPr>
            <a:r>
              <a:t>4.  Not investment advice — academic analysis only. The model classifies regime</a:t>
            </a:r>
            <a:br/>
            <a:r>
              <a:t>     risk, it does not predict future prices.</a:t>
            </a:r>
          </a:p>
          <a:p>
            <a:pPr>
              <a:spcAft>
                <a:spcPts val="600"/>
              </a:spcAft>
              <a:defRPr sz="1600">
                <a:solidFill>
                  <a:srgbClr val="D1D5DB"/>
                </a:solidFill>
                <a:latin typeface="Calibri"/>
              </a:defRPr>
            </a:pPr>
            <a:r>
              <a:t>5.  AI tools used responsibly — OpenAI API for NLP classification.</a:t>
            </a:r>
            <a:br/>
            <a:r>
              <a:t>     All results manually validated on a 200-sentence sample (~85% agreement).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1D5DB"/>
                </a:solidFill>
                <a:latin typeface="Calibri"/>
              </a:defRPr>
            </a:pPr>
            <a:r>
              <a:t>Team 2Kim: Jimmy Kim &amp; Alice Kim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0"/>
            <a:ext cx="10698480" cy="127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CC9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Notebook: 2kim_finance_notebook.ipynb  |  Interactive dashboard available for live demo if requested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7280"/>
                </a:solidFill>
                <a:latin typeface="Calibri"/>
              </a:defRPr>
            </a:pPr>
            <a: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Feature Importance Deep Dive: SHAP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11247120" cy="502920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375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[Chart ML.3 — SHAP Summary Plot (Beeswarm): 38 features ranked by importance]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7280"/>
                </a:solidFill>
                <a:latin typeface="Calibri"/>
              </a:defRPr>
            </a:pPr>
            <a: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 Validation: Walk-Forward 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375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[Walk-Forward Validation Accuracy Chart]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28600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25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[Confusion Matrix — Test Set]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749039"/>
            <a:ext cx="5486400" cy="246888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75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[Ensemble Agreement Statistics]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